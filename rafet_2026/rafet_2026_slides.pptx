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7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D5BCA-1C8B-48C5-9687-4C6B1B7E2C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2D84CC-B442-4DDB-ABB7-499CBED8AE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8785A-DBC6-4CA7-A354-55DE755D1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44E67-36C8-4E90-9387-EEBC17BA62B4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58B7F-AD74-41AA-8162-2F96ABFFE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91CD-5D3F-4C01-8213-4EE9C7E05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8211C-DA08-47A1-9C58-3177757CEB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487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273B8-158D-465D-A9CB-E8E68443B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ADC4C-27B8-4D3F-8C87-00B3C5023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50A7EC-543C-4481-89A0-986817C4A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44E67-36C8-4E90-9387-EEBC17BA62B4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D9122-3504-4F4F-B18F-4BD3160C5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ABBA1-5A26-4446-8C2E-9C631E68F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8211C-DA08-47A1-9C58-3177757CEB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8665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12CDC-46F8-433B-AF48-B03ADF5C7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2F6D2B-8E7C-4684-A6FE-50A0B4119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8EB5B-28EB-46E5-A0EB-82E8719E3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44E67-36C8-4E90-9387-EEBC17BA62B4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9F1D03-BC85-40FD-AC64-939459EE7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78DE3-2A45-490F-A4EF-E8F843DA1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8211C-DA08-47A1-9C58-3177757CEB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7414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6E50C-48F4-43EF-8788-33330C294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E0E9B-6FC0-4D36-87D7-E0F9540527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7A109A-2197-4F29-93A7-3FC17447B0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7DEB70-CA17-4300-AC96-5968A47CC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44E67-36C8-4E90-9387-EEBC17BA62B4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FD485A-5916-42F0-AD54-79D32A4C3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5DA320-21E8-428A-A763-61A5E5FA4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8211C-DA08-47A1-9C58-3177757CEB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9995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AFE73-0DB4-44B3-A280-29B088640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7E2D50-2E05-417F-AA10-E353512630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DF6772-4ED0-4394-AE8C-1772B7BEC1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D4E1CB-A709-4666-A56A-7F59071642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3A82D7-242D-4599-8B6A-B2ACD3F7B4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656AD4-23B8-4368-B655-62CE0BDD2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44E67-36C8-4E90-9387-EEBC17BA62B4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57492E-EE3B-48B2-B813-587060125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CBC382-39AA-4896-84EB-48F3E718D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8211C-DA08-47A1-9C58-3177757CEB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8307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EA5F2-BB4B-4B87-91EF-E4C8456BA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1BEFEB-F577-4BAC-B3D2-84150730F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44E67-36C8-4E90-9387-EEBC17BA62B4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67CD0D-812C-427A-80F6-51F1A2137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E976DE-363A-46EF-8030-10920744A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8211C-DA08-47A1-9C58-3177757CEB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0880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2F77E1-02C4-4F00-AD0E-63004148F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44E67-36C8-4E90-9387-EEBC17BA62B4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6ACF4F-7188-4A2E-886E-DE26053C1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7E3065-7717-4CE1-84ED-3EBCB17DD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8211C-DA08-47A1-9C58-3177757CEB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4426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C4967-2096-4A51-9CDC-280F8C343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E4637-093B-485E-82AC-DE00F493A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A2D433-CE9C-4B99-8AE7-E389A1C9D2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963265-BCAD-4214-9C78-8C12EB0A6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44E67-36C8-4E90-9387-EEBC17BA62B4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A36CE0-1CD0-4933-B336-132F1211C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67E8FB-1A19-4AE7-AE98-0104CE158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8211C-DA08-47A1-9C58-3177757CEB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4892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3CE77-1673-463A-B33E-F84A9ACB0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B31440-8D16-4EA8-8DB1-62842DB169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B0D9DA-5266-4DE4-8C03-4B35733E65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1EEDF0-47FF-413C-AB6C-25BF5CDD6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44E67-36C8-4E90-9387-EEBC17BA62B4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F71BC-834F-40BD-A304-BE24177AC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C216A8-5966-465B-BAC1-C5F20C0D9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8211C-DA08-47A1-9C58-3177757CEB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770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7E65A-F596-4C72-9030-913EB6250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60171A-2365-454A-A6BA-1D3C477526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EFB26-05C3-4105-92F0-514D64B81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44E67-36C8-4E90-9387-EEBC17BA62B4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DB126-40A5-4872-9CD0-7CD579EDA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63838-4478-4DEE-A0B7-2BEA3BD51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8211C-DA08-47A1-9C58-3177757CEB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2310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F26593-25C7-4388-A432-E423003FAE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72F1F5-7532-46A5-8BA9-B4032D7FED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E565BE-6606-4DF2-8AC6-01FFF68DC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44E67-36C8-4E90-9387-EEBC17BA62B4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B1D9BC-4A56-4567-B6B0-76305CFEE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57A9B9-19D6-4AD1-ACF8-68EA9B578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8211C-DA08-47A1-9C58-3177757CEB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5010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4A9871-17BC-4EE5-94DE-02C9D2136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05F7A8-0765-4EDF-99D4-CE191C6DF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580851-4970-4EEE-BC05-95D14AE0FA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E44E67-36C8-4E90-9387-EEBC17BA62B4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0CC4F-CE0E-4A87-9052-D69876962C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74EFD-A095-48BF-9661-C384BEB4E9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F8211C-DA08-47A1-9C58-3177757CEB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9714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106.09685" TargetMode="External"/><Relationship Id="rId2" Type="http://schemas.openxmlformats.org/officeDocument/2006/relationships/hyperlink" Target="https://github.com/SohamtheCodesmith/fine-tuning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blog.mlq.ai/llm-transformer-architecture/" TargetMode="External"/><Relationship Id="rId4" Type="http://schemas.openxmlformats.org/officeDocument/2006/relationships/hyperlink" Target="https://arxiv.org/pdf/1706.0376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2DB4B-1BFB-4F9C-B5E8-727124F991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Autofit/>
          </a:bodyPr>
          <a:lstStyle/>
          <a:p>
            <a:r>
              <a:rPr lang="en-IN" sz="4400" b="1" dirty="0"/>
              <a:t>Improving Instruction-Following in Small Language Models Using </a:t>
            </a:r>
            <a:r>
              <a:rPr lang="en-IN" sz="4400" b="1" dirty="0" err="1"/>
              <a:t>LoRA</a:t>
            </a:r>
            <a:r>
              <a:rPr lang="en-IN" sz="4400" b="1" dirty="0"/>
              <a:t>-Based Parameter Efficient Fine-Tuning</a:t>
            </a:r>
            <a:endParaRPr lang="en-GB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CF9A6D-9D56-4DC6-A977-D481F78798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705456"/>
          </a:xfrm>
        </p:spPr>
        <p:txBody>
          <a:bodyPr/>
          <a:lstStyle/>
          <a:p>
            <a:r>
              <a:rPr lang="en-IN" dirty="0"/>
              <a:t>~*~</a:t>
            </a:r>
            <a:endParaRPr lang="en-GB" dirty="0"/>
          </a:p>
          <a:p>
            <a:r>
              <a:rPr lang="en-GB" dirty="0"/>
              <a:t>Soham Banerjee (</a:t>
            </a:r>
            <a:r>
              <a:rPr lang="en-IN" dirty="0"/>
              <a:t>Senior Analyst, Accenture</a:t>
            </a:r>
            <a:r>
              <a:rPr lang="en-GB" dirty="0"/>
              <a:t>)</a:t>
            </a:r>
          </a:p>
          <a:p>
            <a:r>
              <a:rPr lang="en-IN" dirty="0"/>
              <a:t>sohambanerjee2k@gmail.com</a:t>
            </a:r>
            <a:br>
              <a:rPr lang="en-IN" dirty="0"/>
            </a:br>
            <a:br>
              <a:rPr lang="en-IN" dirty="0"/>
            </a:br>
            <a:r>
              <a:rPr lang="en-IN" dirty="0"/>
              <a:t>RAFET 2026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4681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44727-1EDE-4536-B09B-94C6D7F13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Motivation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45804-FC37-4DDB-BBFF-DA625B0C2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Large Language Models require high computational resources</a:t>
            </a:r>
          </a:p>
          <a:p>
            <a:r>
              <a:rPr lang="en-US" sz="2000" dirty="0"/>
              <a:t>Full fine-tuning of LLMs is expensive and impractical</a:t>
            </a:r>
          </a:p>
          <a:p>
            <a:r>
              <a:rPr lang="en-GB" sz="2000" dirty="0"/>
              <a:t>We need lightweight customisation methods</a:t>
            </a:r>
          </a:p>
          <a:p>
            <a:r>
              <a:rPr lang="en-US" sz="2000" b="1" dirty="0"/>
              <a:t>Goal: </a:t>
            </a:r>
            <a:r>
              <a:rPr lang="en-US" sz="2000" dirty="0"/>
              <a:t>Enable local experimentation with limited hardware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marL="0" indent="0" algn="ctr">
              <a:buNone/>
            </a:pPr>
            <a:r>
              <a:rPr lang="en-US" dirty="0"/>
              <a:t>vs</a:t>
            </a:r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2FDAD4A-EF5E-4422-A951-D876A71943D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154"/>
          <a:stretch/>
        </p:blipFill>
        <p:spPr>
          <a:xfrm>
            <a:off x="106213" y="2410390"/>
            <a:ext cx="11979573" cy="4082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030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blog.mlq.ai/content/images/size/w1000/2024/03/Screenshot-2024-03-01-at-3.53.41-PM.png">
            <a:extLst>
              <a:ext uri="{FF2B5EF4-FFF2-40B4-BE49-F238E27FC236}">
                <a16:creationId xmlns:a16="http://schemas.microsoft.com/office/drawing/2014/main" id="{40184ED2-7738-47EA-8131-07E77B6A783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05" r="19905" b="7001"/>
          <a:stretch/>
        </p:blipFill>
        <p:spPr bwMode="auto">
          <a:xfrm>
            <a:off x="2311476" y="513799"/>
            <a:ext cx="4249509" cy="5830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045504-FF67-4437-8125-01171ADD9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Background</a:t>
            </a:r>
            <a:endParaRPr lang="en-GB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001E0A-ADFD-4FF5-808B-9C6F75B0D1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9276" y="461368"/>
            <a:ext cx="2311248" cy="29365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6111CBD-89BD-4030-910B-993C9FD0CD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9276" y="3429000"/>
            <a:ext cx="2311248" cy="2988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427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89AD3-08E3-4363-8CC6-838066200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Objective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DB531-F1F5-4EEA-BC5A-1A2AA54964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Build lightweight local fine-tuning pipeline</a:t>
            </a:r>
          </a:p>
          <a:p>
            <a:r>
              <a:rPr lang="en-GB" dirty="0"/>
              <a:t>Test behavioural adaptation</a:t>
            </a:r>
          </a:p>
          <a:p>
            <a:r>
              <a:rPr lang="en-GB" dirty="0"/>
              <a:t>Use minimal datasets</a:t>
            </a:r>
          </a:p>
          <a:p>
            <a:r>
              <a:rPr lang="en-GB" dirty="0"/>
              <a:t>Evaluate practicality</a:t>
            </a:r>
          </a:p>
        </p:txBody>
      </p:sp>
    </p:spTree>
    <p:extLst>
      <p:ext uri="{BB962C8B-B14F-4D97-AF65-F5344CB8AC3E}">
        <p14:creationId xmlns:p14="http://schemas.microsoft.com/office/powerpoint/2010/main" val="3843263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5DBD-4FAD-414D-9E01-6A56560E8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Methodology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AB62F-DB49-4379-A38B-6F040C210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Small pretrained model</a:t>
            </a:r>
          </a:p>
          <a:p>
            <a:r>
              <a:rPr lang="en-US" dirty="0"/>
              <a:t>Instruction dataset</a:t>
            </a:r>
          </a:p>
          <a:p>
            <a:r>
              <a:rPr lang="en-US" dirty="0" err="1"/>
              <a:t>LoRA</a:t>
            </a:r>
            <a:r>
              <a:rPr lang="en-US" dirty="0"/>
              <a:t> adapters</a:t>
            </a:r>
          </a:p>
          <a:p>
            <a:r>
              <a:rPr lang="en-US" dirty="0"/>
              <a:t>Local execution</a:t>
            </a:r>
            <a:endParaRPr lang="en-GB" dirty="0"/>
          </a:p>
        </p:txBody>
      </p:sp>
      <p:pic>
        <p:nvPicPr>
          <p:cNvPr id="4098" name="Picture 2" descr="https://blog.mlq.ai/content/images/2024/03/pasted-image-0.png">
            <a:extLst>
              <a:ext uri="{FF2B5EF4-FFF2-40B4-BE49-F238E27FC236}">
                <a16:creationId xmlns:a16="http://schemas.microsoft.com/office/drawing/2014/main" id="{30769BD3-A8EB-48C9-9CFF-6527CF37AE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080" y="838031"/>
            <a:ext cx="6141720" cy="5338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2939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4214F-236A-43A5-90BF-CEF0441D1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Implementation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4038-ECB9-4E94-B81F-CC884B3010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Tools Used:</a:t>
            </a:r>
          </a:p>
          <a:p>
            <a:r>
              <a:rPr lang="en-IN" dirty="0" err="1"/>
              <a:t>PyTorch</a:t>
            </a:r>
            <a:endParaRPr lang="en-IN" dirty="0"/>
          </a:p>
          <a:p>
            <a:r>
              <a:rPr lang="en-IN" dirty="0"/>
              <a:t>Hugging Face Transformers</a:t>
            </a:r>
          </a:p>
          <a:p>
            <a:r>
              <a:rPr lang="en-IN" dirty="0"/>
              <a:t>PEFT (</a:t>
            </a:r>
            <a:r>
              <a:rPr lang="en-IN" dirty="0" err="1"/>
              <a:t>LoRA</a:t>
            </a:r>
            <a:r>
              <a:rPr lang="en-IN" dirty="0"/>
              <a:t>)</a:t>
            </a:r>
          </a:p>
          <a:p>
            <a:r>
              <a:rPr lang="en-IN" dirty="0"/>
              <a:t>Local Training Environment</a:t>
            </a:r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8F0826C-D9A8-451A-B766-F49B42A37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3548" y="681037"/>
            <a:ext cx="6495164" cy="5320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97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D7DE9-112B-4552-9A99-DCE39DCEA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Dataset Design</a:t>
            </a:r>
            <a:endParaRPr lang="en-GB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6BCA9B3-F4ED-4A2A-BF93-B8A6BCD8E4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0333821"/>
              </p:ext>
            </p:extLst>
          </p:nvPr>
        </p:nvGraphicFramePr>
        <p:xfrm>
          <a:off x="838200" y="1612258"/>
          <a:ext cx="10515600" cy="4386333"/>
        </p:xfrm>
        <a:graphic>
          <a:graphicData uri="http://schemas.openxmlformats.org/drawingml/2006/table">
            <a:tbl>
              <a:tblPr>
                <a:tableStyleId>{46F890A9-2807-4EBB-B81D-B2AA78EC7F39}</a:tableStyleId>
              </a:tblPr>
              <a:tblGrid>
                <a:gridCol w="3022600">
                  <a:extLst>
                    <a:ext uri="{9D8B030D-6E8A-4147-A177-3AD203B41FA5}">
                      <a16:colId xmlns:a16="http://schemas.microsoft.com/office/drawing/2014/main" val="3097966786"/>
                    </a:ext>
                  </a:extLst>
                </a:gridCol>
                <a:gridCol w="2712720">
                  <a:extLst>
                    <a:ext uri="{9D8B030D-6E8A-4147-A177-3AD203B41FA5}">
                      <a16:colId xmlns:a16="http://schemas.microsoft.com/office/drawing/2014/main" val="1735939959"/>
                    </a:ext>
                  </a:extLst>
                </a:gridCol>
                <a:gridCol w="4780280">
                  <a:extLst>
                    <a:ext uri="{9D8B030D-6E8A-4147-A177-3AD203B41FA5}">
                      <a16:colId xmlns:a16="http://schemas.microsoft.com/office/drawing/2014/main" val="3705770338"/>
                    </a:ext>
                  </a:extLst>
                </a:gridCol>
              </a:tblGrid>
              <a:tr h="244763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u="none" strike="noStrike" dirty="0">
                          <a:effectLst/>
                        </a:rPr>
                        <a:t>instruction</a:t>
                      </a:r>
                      <a:endParaRPr lang="en-GB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39" marR="5439" marT="5439" marB="0" anchor="b"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u="none" strike="noStrike" dirty="0">
                          <a:effectLst/>
                        </a:rPr>
                        <a:t>input</a:t>
                      </a:r>
                      <a:endParaRPr lang="en-GB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39" marR="5439" marT="5439" marB="0" anchor="b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u="none" strike="noStrike" dirty="0">
                          <a:effectLst/>
                        </a:rPr>
                        <a:t>output</a:t>
                      </a:r>
                      <a:endParaRPr lang="en-GB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39" marR="5439" marT="5439" marB="0" anchor="b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9532072"/>
                  </a:ext>
                </a:extLst>
              </a:tr>
              <a:tr h="484086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u="none" strike="noStrike" dirty="0">
                          <a:effectLst/>
                        </a:rPr>
                        <a:t>Rewrite the sentence politely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39" marR="5439" marT="5439" marB="0" anchor="b"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u="none" strike="noStrike" dirty="0">
                          <a:effectLst/>
                        </a:rPr>
                        <a:t>shut up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39" marR="5439" marT="5439" marB="0" anchor="b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please be quiet for a moment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39" marR="5439" marT="5439" marB="0" anchor="b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2784057"/>
                  </a:ext>
                </a:extLst>
              </a:tr>
              <a:tr h="484086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u="none" strike="noStrike">
                          <a:effectLst/>
                        </a:rPr>
                        <a:t>Rewrite the sentence politely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39" marR="5439" marT="5439" marB="0" anchor="b"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u="none" strike="noStrike" dirty="0">
                          <a:effectLst/>
                        </a:rPr>
                        <a:t>give me that book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39" marR="5439" marT="5439" marB="0" anchor="b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may I kindly request that book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39" marR="5439" marT="5439" marB="0" anchor="b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7961916"/>
                  </a:ext>
                </a:extLst>
              </a:tr>
              <a:tr h="723410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u="none" strike="noStrike">
                          <a:effectLst/>
                        </a:rPr>
                        <a:t>Rewrite the sentence politely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39" marR="5439" marT="5439" marB="0" anchor="b"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u="none" strike="noStrike" dirty="0">
                          <a:effectLst/>
                        </a:rPr>
                        <a:t>your idea is wrong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39" marR="5439" marT="5439" marB="0" anchor="b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I respectfully disagree with your idea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39" marR="5439" marT="5439" marB="0" anchor="b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2534273"/>
                  </a:ext>
                </a:extLst>
              </a:tr>
              <a:tr h="484086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u="none" strike="noStrike">
                          <a:effectLst/>
                        </a:rPr>
                        <a:t>Rewrite the sentence politely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39" marR="5439" marT="5439" marB="0" anchor="b"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move out of my way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39" marR="5439" marT="5439" marB="0" anchor="b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could you please let me pass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39" marR="5439" marT="5439" marB="0" anchor="b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7632372"/>
                  </a:ext>
                </a:extLst>
              </a:tr>
              <a:tr h="723410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u="none" strike="noStrike">
                          <a:effectLst/>
                        </a:rPr>
                        <a:t>Rewrite the sentence politely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39" marR="5439" marT="5439" marB="0" anchor="b"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u="none" strike="noStrike">
                          <a:effectLst/>
                        </a:rPr>
                        <a:t>that's a stupid question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39" marR="5439" marT="5439" marB="0" anchor="b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I'm not sure I understand your question fully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39" marR="5439" marT="5439" marB="0" anchor="b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4419990"/>
                  </a:ext>
                </a:extLst>
              </a:tr>
              <a:tr h="603748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u="none" strike="noStrike">
                          <a:effectLst/>
                        </a:rPr>
                        <a:t>Rewrite the sentence politely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39" marR="5439" marT="5439" marB="0" anchor="b"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u="none" strike="noStrike">
                          <a:effectLst/>
                        </a:rPr>
                        <a:t>stop bothering me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39" marR="5439" marT="5439" marB="0" anchor="b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I would appreciate some space right now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39" marR="5439" marT="5439" marB="0" anchor="b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2808474"/>
                  </a:ext>
                </a:extLst>
              </a:tr>
              <a:tr h="603748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u="none" strike="noStrike" dirty="0">
                          <a:effectLst/>
                        </a:rPr>
                        <a:t>Rewrite the sentence politely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39" marR="5439" marT="5439" marB="0" anchor="b"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u="none" strike="noStrike">
                          <a:effectLst/>
                        </a:rPr>
                        <a:t>hurry up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39" marR="5439" marT="5439" marB="0" anchor="b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could you please speed things along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39" marR="5439" marT="5439" marB="0" anchor="b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31803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674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B575A-1978-4E24-BBF4-6251BDC7F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Results</a:t>
            </a:r>
            <a:endParaRPr lang="en-GB" b="1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E9FE6CD-E2BE-4C11-A262-AF6BF8C092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0405739"/>
              </p:ext>
            </p:extLst>
          </p:nvPr>
        </p:nvGraphicFramePr>
        <p:xfrm>
          <a:off x="838200" y="1825625"/>
          <a:ext cx="105156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3160">
                  <a:extLst>
                    <a:ext uri="{9D8B030D-6E8A-4147-A177-3AD203B41FA5}">
                      <a16:colId xmlns:a16="http://schemas.microsoft.com/office/drawing/2014/main" val="3275902790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908193138"/>
                    </a:ext>
                  </a:extLst>
                </a:gridCol>
                <a:gridCol w="4983480">
                  <a:extLst>
                    <a:ext uri="{9D8B030D-6E8A-4147-A177-3AD203B41FA5}">
                      <a16:colId xmlns:a16="http://schemas.microsoft.com/office/drawing/2014/main" val="40806280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Before Fine-Tuning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After Fine-Tuning</a:t>
                      </a:r>
                      <a:endParaRPr lang="en-GB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593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Input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That’s a horrible idea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That’s a horrible idea</a:t>
                      </a:r>
                      <a:endParaRPr lang="en-GB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863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Output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That’s a bad idea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I have some reservations about that idea</a:t>
                      </a:r>
                      <a:endParaRPr lang="en-GB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9942739"/>
                  </a:ext>
                </a:extLst>
              </a:tr>
            </a:tbl>
          </a:graphicData>
        </a:graphic>
      </p:graphicFrame>
      <p:graphicFrame>
        <p:nvGraphicFramePr>
          <p:cNvPr id="7" name="Content Placeholder 5">
            <a:extLst>
              <a:ext uri="{FF2B5EF4-FFF2-40B4-BE49-F238E27FC236}">
                <a16:creationId xmlns:a16="http://schemas.microsoft.com/office/drawing/2014/main" id="{B08424C2-3D4D-4605-8315-5F21F325FF4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3126744"/>
              </p:ext>
            </p:extLst>
          </p:nvPr>
        </p:nvGraphicFramePr>
        <p:xfrm>
          <a:off x="838200" y="3249296"/>
          <a:ext cx="105156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3160">
                  <a:extLst>
                    <a:ext uri="{9D8B030D-6E8A-4147-A177-3AD203B41FA5}">
                      <a16:colId xmlns:a16="http://schemas.microsoft.com/office/drawing/2014/main" val="3275902790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908193138"/>
                    </a:ext>
                  </a:extLst>
                </a:gridCol>
                <a:gridCol w="4983480">
                  <a:extLst>
                    <a:ext uri="{9D8B030D-6E8A-4147-A177-3AD203B41FA5}">
                      <a16:colId xmlns:a16="http://schemas.microsoft.com/office/drawing/2014/main" val="40806280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Before Fine-Tuning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After Fine-Tuning</a:t>
                      </a:r>
                      <a:endParaRPr lang="en-GB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593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Input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stop being so negative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stop being so negative</a:t>
                      </a:r>
                      <a:endParaRPr lang="en-GB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863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Output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You’re so negative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 would appreciate a more positive outlook</a:t>
                      </a:r>
                      <a:endParaRPr lang="en-GB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9942739"/>
                  </a:ext>
                </a:extLst>
              </a:tr>
            </a:tbl>
          </a:graphicData>
        </a:graphic>
      </p:graphicFrame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F848C1E7-FF58-4AB3-9B62-531FD970EB2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84376414"/>
              </p:ext>
            </p:extLst>
          </p:nvPr>
        </p:nvGraphicFramePr>
        <p:xfrm>
          <a:off x="838200" y="4672967"/>
          <a:ext cx="105156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3160">
                  <a:extLst>
                    <a:ext uri="{9D8B030D-6E8A-4147-A177-3AD203B41FA5}">
                      <a16:colId xmlns:a16="http://schemas.microsoft.com/office/drawing/2014/main" val="3275902790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908193138"/>
                    </a:ext>
                  </a:extLst>
                </a:gridCol>
                <a:gridCol w="4983480">
                  <a:extLst>
                    <a:ext uri="{9D8B030D-6E8A-4147-A177-3AD203B41FA5}">
                      <a16:colId xmlns:a16="http://schemas.microsoft.com/office/drawing/2014/main" val="40806280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Before Fine-Tuning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After Fine-Tuning</a:t>
                      </a:r>
                      <a:endParaRPr lang="en-GB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593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Input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Leave now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Leave now</a:t>
                      </a:r>
                      <a:endParaRPr lang="en-GB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863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Output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Get out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I'm gonna have to ask you to leave</a:t>
                      </a:r>
                      <a:endParaRPr lang="en-GB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9942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6125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78D28-A7BD-4C7B-8367-A2EE048CC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Discussions &amp; Insights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274F1-1816-4641-9D7E-958B5B1AB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Key Takeaways:</a:t>
            </a:r>
          </a:p>
          <a:p>
            <a:r>
              <a:rPr lang="en-GB" dirty="0"/>
              <a:t>Low compute requirement </a:t>
            </a:r>
          </a:p>
          <a:p>
            <a:r>
              <a:rPr lang="en-GB" dirty="0"/>
              <a:t>Fast experimentation </a:t>
            </a:r>
          </a:p>
          <a:p>
            <a:r>
              <a:rPr lang="en-GB" dirty="0"/>
              <a:t>Accessible AI customisation </a:t>
            </a:r>
          </a:p>
          <a:p>
            <a:r>
              <a:rPr lang="en-GB" dirty="0"/>
              <a:t>Suitable for local deployment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487DB91-4FE6-443D-9E01-F620CADF59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1949661"/>
              </p:ext>
            </p:extLst>
          </p:nvPr>
        </p:nvGraphicFramePr>
        <p:xfrm>
          <a:off x="6095999" y="1593220"/>
          <a:ext cx="5257801" cy="3671560"/>
        </p:xfrm>
        <a:graphic>
          <a:graphicData uri="http://schemas.openxmlformats.org/drawingml/2006/table">
            <a:tbl>
              <a:tblPr firstRow="1" firstCol="1" bandRow="1">
                <a:tableStyleId>{22838BEF-8BB2-4498-84A7-C5851F593DF1}</a:tableStyleId>
              </a:tblPr>
              <a:tblGrid>
                <a:gridCol w="1193521">
                  <a:extLst>
                    <a:ext uri="{9D8B030D-6E8A-4147-A177-3AD203B41FA5}">
                      <a16:colId xmlns:a16="http://schemas.microsoft.com/office/drawing/2014/main" val="1942292062"/>
                    </a:ext>
                  </a:extLst>
                </a:gridCol>
                <a:gridCol w="4064280">
                  <a:extLst>
                    <a:ext uri="{9D8B030D-6E8A-4147-A177-3AD203B41FA5}">
                      <a16:colId xmlns:a16="http://schemas.microsoft.com/office/drawing/2014/main" val="2248583859"/>
                    </a:ext>
                  </a:extLst>
                </a:gridCol>
              </a:tblGrid>
              <a:tr h="57715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Processor</a:t>
                      </a:r>
                      <a:endParaRPr lang="en-GB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 b="0" dirty="0">
                          <a:effectLst/>
                        </a:rPr>
                        <a:t>AMD </a:t>
                      </a:r>
                      <a:r>
                        <a:rPr lang="en-GB" sz="2000" b="0" dirty="0" err="1">
                          <a:effectLst/>
                        </a:rPr>
                        <a:t>Ryzen</a:t>
                      </a:r>
                      <a:r>
                        <a:rPr lang="en-GB" sz="2000" b="0" dirty="0">
                          <a:effectLst/>
                        </a:rPr>
                        <a:t> 5 5600H with Radeon Graphics, 3.30 GHz</a:t>
                      </a:r>
                      <a:endParaRPr lang="en-GB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43791333"/>
                  </a:ext>
                </a:extLst>
              </a:tr>
              <a:tr h="57715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Installed RAM</a:t>
                      </a:r>
                      <a:endParaRPr lang="en-GB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16 GB</a:t>
                      </a:r>
                      <a:endParaRPr lang="en-GB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49033259"/>
                  </a:ext>
                </a:extLst>
              </a:tr>
              <a:tr h="57715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Storage</a:t>
                      </a:r>
                      <a:endParaRPr lang="en-GB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500 GB SSD, 1 TB HDD</a:t>
                      </a:r>
                      <a:endParaRPr lang="en-GB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31823021"/>
                  </a:ext>
                </a:extLst>
              </a:tr>
              <a:tr h="118102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Graphics Card</a:t>
                      </a:r>
                      <a:endParaRPr lang="en-GB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NVIDIA GeForce GTX 1650 (4 GB), AMD Radeon(TM) Graphics (500 MB)</a:t>
                      </a:r>
                      <a:endParaRPr lang="en-GB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98098320"/>
                  </a:ext>
                </a:extLst>
              </a:tr>
              <a:tr h="57715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System Type</a:t>
                      </a:r>
                      <a:endParaRPr lang="en-GB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64-bit operating system, x64-based processor</a:t>
                      </a:r>
                      <a:endParaRPr lang="en-GB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4389022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E2A0F26-4C11-4599-A7D0-26872D73DDB6}"/>
              </a:ext>
            </a:extLst>
          </p:cNvPr>
          <p:cNvSpPr txBox="1"/>
          <p:nvPr/>
        </p:nvSpPr>
        <p:spPr>
          <a:xfrm>
            <a:off x="8042661" y="5399717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My PC Specs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93359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FF17B-1AE8-4463-933C-7BCC73854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Future Work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92F70-9349-4D00-96B9-6CB6D5CC24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Snarky tone dataset</a:t>
            </a:r>
          </a:p>
          <a:p>
            <a:r>
              <a:rPr lang="en-GB" dirty="0"/>
              <a:t>Medieval dialogue dataset</a:t>
            </a:r>
          </a:p>
          <a:p>
            <a:r>
              <a:rPr lang="en-GB" dirty="0"/>
              <a:t>Quantitative evaluation metrics</a:t>
            </a:r>
          </a:p>
          <a:p>
            <a:r>
              <a:rPr lang="en-GB" dirty="0"/>
              <a:t>Web demo (</a:t>
            </a:r>
            <a:r>
              <a:rPr lang="en-GB" dirty="0" err="1"/>
              <a:t>Gradio</a:t>
            </a:r>
            <a:r>
              <a:rPr lang="en-GB" dirty="0"/>
              <a:t>/</a:t>
            </a:r>
            <a:r>
              <a:rPr lang="en-GB" dirty="0" err="1"/>
              <a:t>Streamlit</a:t>
            </a:r>
            <a:r>
              <a:rPr lang="en-GB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34712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ank you Images - Free Download on Freepik">
            <a:extLst>
              <a:ext uri="{FF2B5EF4-FFF2-40B4-BE49-F238E27FC236}">
                <a16:creationId xmlns:a16="http://schemas.microsoft.com/office/drawing/2014/main" id="{EE45E971-DDD8-43CD-AC6B-C693073F5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0" y="933450"/>
            <a:ext cx="7048500" cy="4991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0935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63A9F-6122-4203-BBB1-8156B8DEB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 &amp; Bibliography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ED469-045B-4222-912B-1770CDDB80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GitHub Page: </a:t>
            </a:r>
            <a:r>
              <a:rPr lang="en-IN" dirty="0">
                <a:hlinkClick r:id="rId2"/>
              </a:rPr>
              <a:t>https://github.com/SohamtheCodesmith/fine-tuning</a:t>
            </a:r>
            <a:endParaRPr lang="en-IN" dirty="0"/>
          </a:p>
          <a:p>
            <a:r>
              <a:rPr lang="en-IN" dirty="0" err="1"/>
              <a:t>LoRA</a:t>
            </a:r>
            <a:r>
              <a:rPr lang="en-IN" dirty="0"/>
              <a:t>: </a:t>
            </a:r>
            <a:r>
              <a:rPr lang="en-GB" dirty="0">
                <a:hlinkClick r:id="rId3"/>
              </a:rPr>
              <a:t>https://arxiv.org/abs/2106.09685</a:t>
            </a:r>
            <a:endParaRPr lang="en-GB" dirty="0"/>
          </a:p>
          <a:p>
            <a:r>
              <a:rPr lang="en-IN" dirty="0"/>
              <a:t>A</a:t>
            </a:r>
            <a:r>
              <a:rPr lang="en-GB" dirty="0" err="1"/>
              <a:t>ttention</a:t>
            </a:r>
            <a:r>
              <a:rPr lang="en-GB" dirty="0"/>
              <a:t> is All You Need: </a:t>
            </a:r>
            <a:r>
              <a:rPr lang="en-GB" dirty="0">
                <a:hlinkClick r:id="rId4"/>
              </a:rPr>
              <a:t>https://arxiv.org/pdf/1706.03762</a:t>
            </a:r>
            <a:endParaRPr lang="en-GB" dirty="0"/>
          </a:p>
          <a:p>
            <a:r>
              <a:rPr lang="en-GB" dirty="0"/>
              <a:t>Understanding Transformers and LLM Architecture: </a:t>
            </a:r>
            <a:r>
              <a:rPr lang="en-GB" dirty="0">
                <a:hlinkClick r:id="rId5"/>
              </a:rPr>
              <a:t>https://blog.mlq.ai/llm-transformer-architecture/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33157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339</TotalTime>
  <Words>419</Words>
  <Application>Microsoft Office PowerPoint</Application>
  <PresentationFormat>Widescreen</PresentationFormat>
  <Paragraphs>107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Improving Instruction-Following in Small Language Models Using LoRA-Based Parameter Efficient Fine-Tuning</vt:lpstr>
      <vt:lpstr>Motivation</vt:lpstr>
      <vt:lpstr>Background</vt:lpstr>
      <vt:lpstr>Objective</vt:lpstr>
      <vt:lpstr>Methodology</vt:lpstr>
      <vt:lpstr>Implementation</vt:lpstr>
      <vt:lpstr>Dataset Design</vt:lpstr>
      <vt:lpstr>Results</vt:lpstr>
      <vt:lpstr>Discussions &amp; Insights</vt:lpstr>
      <vt:lpstr>Future Work</vt:lpstr>
      <vt:lpstr>PowerPoint Presentation</vt:lpstr>
      <vt:lpstr>References &amp; Bibliography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Improving Instruction-Following in Small Language Models Using LoRA-Based Parameter Efficient Fine-Tuning</dc:title>
  <dc:creator>Jasper J. Tesla</dc:creator>
  <cp:lastModifiedBy>Jasper J. Tesla</cp:lastModifiedBy>
  <cp:revision>24</cp:revision>
  <dcterms:created xsi:type="dcterms:W3CDTF">2026-04-13T14:15:28Z</dcterms:created>
  <dcterms:modified xsi:type="dcterms:W3CDTF">2026-04-15T18:39:35Z</dcterms:modified>
</cp:coreProperties>
</file>